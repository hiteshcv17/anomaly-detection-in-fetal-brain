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Lilita One" panose="020B0604020202020204" charset="0"/>
      <p:regular r:id="rId10"/>
    </p:embeddedFont>
    <p:embeddedFont>
      <p:font typeface="Noto Serif Ethiopic Condensed" panose="020B0604020202020204" charset="0"/>
      <p:regular r:id="rId11"/>
    </p:embeddedFont>
    <p:embeddedFont>
      <p:font typeface="Noto Serif Ethiopic Condensed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9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-2376610">
            <a:off x="1453755" y="-284512"/>
            <a:ext cx="13441456" cy="12920600"/>
          </a:xfrm>
          <a:custGeom>
            <a:avLst/>
            <a:gdLst/>
            <a:ahLst/>
            <a:cxnLst/>
            <a:rect l="l" t="t" r="r" b="b"/>
            <a:pathLst>
              <a:path w="13441456" h="12920600">
                <a:moveTo>
                  <a:pt x="0" y="0"/>
                </a:moveTo>
                <a:lnTo>
                  <a:pt x="13441456" y="0"/>
                </a:lnTo>
                <a:lnTo>
                  <a:pt x="13441456" y="12920600"/>
                </a:lnTo>
                <a:lnTo>
                  <a:pt x="0" y="12920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591372">
            <a:off x="8158289" y="8795064"/>
            <a:ext cx="1971141" cy="1944903"/>
          </a:xfrm>
          <a:custGeom>
            <a:avLst/>
            <a:gdLst/>
            <a:ahLst/>
            <a:cxnLst/>
            <a:rect l="l" t="t" r="r" b="b"/>
            <a:pathLst>
              <a:path w="1971141" h="1944903">
                <a:moveTo>
                  <a:pt x="0" y="0"/>
                </a:moveTo>
                <a:lnTo>
                  <a:pt x="1971141" y="0"/>
                </a:lnTo>
                <a:lnTo>
                  <a:pt x="1971141" y="1944903"/>
                </a:lnTo>
                <a:lnTo>
                  <a:pt x="0" y="1944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4249005">
            <a:off x="15462142" y="4699203"/>
            <a:ext cx="1991442" cy="1684660"/>
          </a:xfrm>
          <a:custGeom>
            <a:avLst/>
            <a:gdLst/>
            <a:ahLst/>
            <a:cxnLst/>
            <a:rect l="l" t="t" r="r" b="b"/>
            <a:pathLst>
              <a:path w="1991442" h="1684660">
                <a:moveTo>
                  <a:pt x="0" y="0"/>
                </a:moveTo>
                <a:lnTo>
                  <a:pt x="1991442" y="0"/>
                </a:lnTo>
                <a:lnTo>
                  <a:pt x="1991442" y="1684660"/>
                </a:lnTo>
                <a:lnTo>
                  <a:pt x="0" y="16846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059233" y="1699330"/>
            <a:ext cx="1202172" cy="1179211"/>
          </a:xfrm>
          <a:custGeom>
            <a:avLst/>
            <a:gdLst/>
            <a:ahLst/>
            <a:cxnLst/>
            <a:rect l="l" t="t" r="r" b="b"/>
            <a:pathLst>
              <a:path w="1202172" h="1179211">
                <a:moveTo>
                  <a:pt x="0" y="0"/>
                </a:moveTo>
                <a:lnTo>
                  <a:pt x="1202172" y="0"/>
                </a:lnTo>
                <a:lnTo>
                  <a:pt x="1202172" y="1179211"/>
                </a:lnTo>
                <a:lnTo>
                  <a:pt x="0" y="1179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90724" y="7205963"/>
            <a:ext cx="2254234" cy="2648146"/>
          </a:xfrm>
          <a:custGeom>
            <a:avLst/>
            <a:gdLst/>
            <a:ahLst/>
            <a:cxnLst/>
            <a:rect l="l" t="t" r="r" b="b"/>
            <a:pathLst>
              <a:path w="2254234" h="2648146">
                <a:moveTo>
                  <a:pt x="0" y="0"/>
                </a:moveTo>
                <a:lnTo>
                  <a:pt x="2254234" y="0"/>
                </a:lnTo>
                <a:lnTo>
                  <a:pt x="2254234" y="2648146"/>
                </a:lnTo>
                <a:lnTo>
                  <a:pt x="0" y="26481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90163" y="5638451"/>
            <a:ext cx="8561352" cy="8229600"/>
          </a:xfrm>
          <a:custGeom>
            <a:avLst/>
            <a:gdLst/>
            <a:ahLst/>
            <a:cxnLst/>
            <a:rect l="l" t="t" r="r" b="b"/>
            <a:pathLst>
              <a:path w="8561352" h="8229600">
                <a:moveTo>
                  <a:pt x="0" y="0"/>
                </a:moveTo>
                <a:lnTo>
                  <a:pt x="8561352" y="0"/>
                </a:lnTo>
                <a:lnTo>
                  <a:pt x="85613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-4780691" y="-3086100"/>
            <a:ext cx="8561352" cy="8229600"/>
          </a:xfrm>
          <a:custGeom>
            <a:avLst/>
            <a:gdLst/>
            <a:ahLst/>
            <a:cxnLst/>
            <a:rect l="l" t="t" r="r" b="b"/>
            <a:pathLst>
              <a:path w="8561352" h="8229600">
                <a:moveTo>
                  <a:pt x="0" y="0"/>
                </a:moveTo>
                <a:lnTo>
                  <a:pt x="8561352" y="0"/>
                </a:lnTo>
                <a:lnTo>
                  <a:pt x="85613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06873" y="2381473"/>
            <a:ext cx="12228248" cy="3104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62"/>
              </a:lnSpc>
            </a:pPr>
            <a:r>
              <a:rPr lang="en-US" sz="8382">
                <a:solidFill>
                  <a:srgbClr val="1F2C3B"/>
                </a:solidFill>
                <a:latin typeface="Lilita One"/>
                <a:ea typeface="Lilita One"/>
                <a:cs typeface="Lilita One"/>
                <a:sym typeface="Lilita One"/>
              </a:rPr>
              <a:t>   Unsupervised Anomaly Detection in Fetal Brain Ultrasound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22562" y="5771203"/>
            <a:ext cx="8736672" cy="1434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68"/>
              </a:lnSpc>
              <a:spcBef>
                <a:spcPct val="0"/>
              </a:spcBef>
            </a:pPr>
            <a:r>
              <a:rPr lang="en-US" sz="2763" spc="386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MULTI-TIMESTEP SCORING AND AUTOMATED QUALITY ASSURANCE FOR MORE ROBUST ANOMALY MAPS</a:t>
            </a:r>
          </a:p>
        </p:txBody>
      </p:sp>
      <p:sp>
        <p:nvSpPr>
          <p:cNvPr id="12" name="Freeform 12"/>
          <p:cNvSpPr/>
          <p:nvPr/>
        </p:nvSpPr>
        <p:spPr>
          <a:xfrm>
            <a:off x="2480776" y="3257271"/>
            <a:ext cx="1202172" cy="1179211"/>
          </a:xfrm>
          <a:custGeom>
            <a:avLst/>
            <a:gdLst/>
            <a:ahLst/>
            <a:cxnLst/>
            <a:rect l="l" t="t" r="r" b="b"/>
            <a:pathLst>
              <a:path w="1202172" h="1179211">
                <a:moveTo>
                  <a:pt x="0" y="0"/>
                </a:moveTo>
                <a:lnTo>
                  <a:pt x="1202172" y="0"/>
                </a:lnTo>
                <a:lnTo>
                  <a:pt x="1202172" y="1179211"/>
                </a:lnTo>
                <a:lnTo>
                  <a:pt x="0" y="1179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601256" y="7940430"/>
            <a:ext cx="1202172" cy="1179211"/>
          </a:xfrm>
          <a:custGeom>
            <a:avLst/>
            <a:gdLst/>
            <a:ahLst/>
            <a:cxnLst/>
            <a:rect l="l" t="t" r="r" b="b"/>
            <a:pathLst>
              <a:path w="1202172" h="1179211">
                <a:moveTo>
                  <a:pt x="0" y="0"/>
                </a:moveTo>
                <a:lnTo>
                  <a:pt x="1202172" y="0"/>
                </a:lnTo>
                <a:lnTo>
                  <a:pt x="1202172" y="1179211"/>
                </a:lnTo>
                <a:lnTo>
                  <a:pt x="0" y="1179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7758296" y="9625509"/>
            <a:ext cx="18184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rot="-2376610">
            <a:off x="1453755" y="-284512"/>
            <a:ext cx="13441456" cy="12920600"/>
          </a:xfrm>
          <a:custGeom>
            <a:avLst/>
            <a:gdLst/>
            <a:ahLst/>
            <a:cxnLst/>
            <a:rect l="l" t="t" r="r" b="b"/>
            <a:pathLst>
              <a:path w="13441456" h="12920600">
                <a:moveTo>
                  <a:pt x="0" y="0"/>
                </a:moveTo>
                <a:lnTo>
                  <a:pt x="13441456" y="0"/>
                </a:lnTo>
                <a:lnTo>
                  <a:pt x="13441456" y="12920600"/>
                </a:lnTo>
                <a:lnTo>
                  <a:pt x="0" y="12920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90163" y="5638451"/>
            <a:ext cx="8561352" cy="8229600"/>
          </a:xfrm>
          <a:custGeom>
            <a:avLst/>
            <a:gdLst/>
            <a:ahLst/>
            <a:cxnLst/>
            <a:rect l="l" t="t" r="r" b="b"/>
            <a:pathLst>
              <a:path w="8561352" h="8229600">
                <a:moveTo>
                  <a:pt x="0" y="0"/>
                </a:moveTo>
                <a:lnTo>
                  <a:pt x="8561352" y="0"/>
                </a:lnTo>
                <a:lnTo>
                  <a:pt x="85613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-4780691" y="-3086100"/>
            <a:ext cx="8561352" cy="8229600"/>
          </a:xfrm>
          <a:custGeom>
            <a:avLst/>
            <a:gdLst/>
            <a:ahLst/>
            <a:cxnLst/>
            <a:rect l="l" t="t" r="r" b="b"/>
            <a:pathLst>
              <a:path w="8561352" h="8229600">
                <a:moveTo>
                  <a:pt x="0" y="0"/>
                </a:moveTo>
                <a:lnTo>
                  <a:pt x="8561352" y="0"/>
                </a:lnTo>
                <a:lnTo>
                  <a:pt x="85613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86169" y="2546160"/>
            <a:ext cx="7073551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79501" lvl="1" indent="-5397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5000" dirty="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1269" y="3799968"/>
            <a:ext cx="8758536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79501" lvl="1" indent="-539750" algn="l">
              <a:lnSpc>
                <a:spcPts val="7000"/>
              </a:lnSpc>
              <a:spcBef>
                <a:spcPct val="0"/>
              </a:spcBef>
              <a:buFont typeface="Arial"/>
              <a:buChar char="•"/>
            </a:pPr>
            <a:r>
              <a:rPr lang="en-US" sz="5000" dirty="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1268" y="5244593"/>
            <a:ext cx="7038451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79501" lvl="1" indent="-5397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5000" dirty="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Motivation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1269" y="6597143"/>
            <a:ext cx="7704995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79501" lvl="1" indent="-5397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5000" dirty="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Existing Systems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1269" y="7949693"/>
            <a:ext cx="10032531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79501" lvl="1" indent="-539750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5000" dirty="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Advantages &amp; Limitations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07225" y="540517"/>
            <a:ext cx="7073551" cy="11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24"/>
              </a:lnSpc>
            </a:pPr>
            <a:r>
              <a:rPr lang="en-US" sz="9183">
                <a:solidFill>
                  <a:srgbClr val="1F2C3B"/>
                </a:solidFill>
                <a:latin typeface="Lilita One"/>
                <a:ea typeface="Lilita One"/>
                <a:cs typeface="Lilita One"/>
                <a:sym typeface="Lilita One"/>
              </a:rPr>
              <a:t>Contents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697533" y="1965135"/>
            <a:ext cx="1202172" cy="1179211"/>
          </a:xfrm>
          <a:custGeom>
            <a:avLst/>
            <a:gdLst/>
            <a:ahLst/>
            <a:cxnLst/>
            <a:rect l="l" t="t" r="r" b="b"/>
            <a:pathLst>
              <a:path w="1202172" h="1179211">
                <a:moveTo>
                  <a:pt x="0" y="0"/>
                </a:moveTo>
                <a:lnTo>
                  <a:pt x="1202172" y="0"/>
                </a:lnTo>
                <a:lnTo>
                  <a:pt x="1202172" y="1179211"/>
                </a:lnTo>
                <a:lnTo>
                  <a:pt x="0" y="1179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877633" y="4664512"/>
            <a:ext cx="1202172" cy="1179211"/>
          </a:xfrm>
          <a:custGeom>
            <a:avLst/>
            <a:gdLst/>
            <a:ahLst/>
            <a:cxnLst/>
            <a:rect l="l" t="t" r="r" b="b"/>
            <a:pathLst>
              <a:path w="1202172" h="1179211">
                <a:moveTo>
                  <a:pt x="0" y="0"/>
                </a:moveTo>
                <a:lnTo>
                  <a:pt x="1202172" y="0"/>
                </a:lnTo>
                <a:lnTo>
                  <a:pt x="1202172" y="1179211"/>
                </a:lnTo>
                <a:lnTo>
                  <a:pt x="0" y="1179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023928" y="785924"/>
            <a:ext cx="1202172" cy="1179211"/>
          </a:xfrm>
          <a:custGeom>
            <a:avLst/>
            <a:gdLst/>
            <a:ahLst/>
            <a:cxnLst/>
            <a:rect l="l" t="t" r="r" b="b"/>
            <a:pathLst>
              <a:path w="1202172" h="1179211">
                <a:moveTo>
                  <a:pt x="0" y="0"/>
                </a:moveTo>
                <a:lnTo>
                  <a:pt x="1202172" y="0"/>
                </a:lnTo>
                <a:lnTo>
                  <a:pt x="1202172" y="1179211"/>
                </a:lnTo>
                <a:lnTo>
                  <a:pt x="0" y="1179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697533" y="7959218"/>
            <a:ext cx="2029314" cy="2072623"/>
          </a:xfrm>
          <a:custGeom>
            <a:avLst/>
            <a:gdLst/>
            <a:ahLst/>
            <a:cxnLst/>
            <a:rect l="l" t="t" r="r" b="b"/>
            <a:pathLst>
              <a:path w="2029314" h="2072623">
                <a:moveTo>
                  <a:pt x="0" y="0"/>
                </a:moveTo>
                <a:lnTo>
                  <a:pt x="2029314" y="0"/>
                </a:lnTo>
                <a:lnTo>
                  <a:pt x="2029314" y="2072622"/>
                </a:lnTo>
                <a:lnTo>
                  <a:pt x="0" y="2072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4249005">
            <a:off x="13816801" y="4547125"/>
            <a:ext cx="1991442" cy="1684660"/>
          </a:xfrm>
          <a:custGeom>
            <a:avLst/>
            <a:gdLst/>
            <a:ahLst/>
            <a:cxnLst/>
            <a:rect l="l" t="t" r="r" b="b"/>
            <a:pathLst>
              <a:path w="1991442" h="1684660">
                <a:moveTo>
                  <a:pt x="0" y="0"/>
                </a:moveTo>
                <a:lnTo>
                  <a:pt x="1991442" y="0"/>
                </a:lnTo>
                <a:lnTo>
                  <a:pt x="1991442" y="1684660"/>
                </a:lnTo>
                <a:lnTo>
                  <a:pt x="0" y="1684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7758296" y="9625509"/>
            <a:ext cx="18184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280676" y="330967"/>
            <a:ext cx="20664007" cy="12289126"/>
            <a:chOff x="0" y="0"/>
            <a:chExt cx="27552009" cy="16385501"/>
          </a:xfrm>
        </p:grpSpPr>
        <p:sp>
          <p:nvSpPr>
            <p:cNvPr id="4" name="Freeform 4"/>
            <p:cNvSpPr/>
            <p:nvPr/>
          </p:nvSpPr>
          <p:spPr>
            <a:xfrm>
              <a:off x="0" y="5412701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7" y="0"/>
                  </a:lnTo>
                  <a:lnTo>
                    <a:pt x="1141513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138594">
              <a:off x="8165532" y="1750058"/>
              <a:ext cx="5852580" cy="10763366"/>
            </a:xfrm>
            <a:custGeom>
              <a:avLst/>
              <a:gdLst/>
              <a:ahLst/>
              <a:cxnLst/>
              <a:rect l="l" t="t" r="r" b="b"/>
              <a:pathLst>
                <a:path w="5852580" h="10763366">
                  <a:moveTo>
                    <a:pt x="0" y="0"/>
                  </a:moveTo>
                  <a:lnTo>
                    <a:pt x="5852581" y="0"/>
                  </a:lnTo>
                  <a:lnTo>
                    <a:pt x="5852581" y="10763366"/>
                  </a:lnTo>
                  <a:lnTo>
                    <a:pt x="0" y="10763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13183868" y="209550"/>
              <a:ext cx="9431401" cy="1651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724"/>
                </a:lnSpc>
              </a:pPr>
              <a:r>
                <a:rPr lang="en-US" sz="9183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Introduction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797249" y="3119401"/>
              <a:ext cx="1275476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30"/>
                </a:lnSpc>
              </a:pP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Ultrasound 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(US) is the 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standard tool 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for 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prenatal care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because it is safe, real-time, and low-cost.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797249" y="5373092"/>
              <a:ext cx="1275476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30"/>
                </a:lnSpc>
              </a:pP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The 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mid-pregnancy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scan (about 22 weeks) is key for 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finding fetal brain anomalies.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870394" y="8931310"/>
              <a:ext cx="12681616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30"/>
                </a:lnSpc>
              </a:pP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Image quality suffers from acoustic 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shadows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, speckle 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noise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, and 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motion blur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797249" y="7153310"/>
              <a:ext cx="1275476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30"/>
                </a:lnSpc>
                <a:spcBef>
                  <a:spcPct val="0"/>
                </a:spcBef>
              </a:pP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Unsupervised anomaly detection 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(UAD) trains only on healthy scans and flags anything that deviates from normal anatomy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797249" y="10899101"/>
              <a:ext cx="12754760" cy="167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30"/>
                </a:lnSpc>
                <a:spcBef>
                  <a:spcPct val="0"/>
                </a:spcBef>
              </a:pP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Denoising diffusion models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(DDPMs) generate a "</a:t>
              </a:r>
              <a:r>
                <a:rPr lang="en-US" sz="2775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pseudo-healthy</a:t>
              </a:r>
              <a:r>
                <a:rPr lang="en-US" sz="2775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" version of a scan. The difference from the original gives an anomaly heatmap.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758296" y="9625509"/>
            <a:ext cx="18184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70982" y="330967"/>
            <a:ext cx="20547757" cy="10492470"/>
            <a:chOff x="0" y="0"/>
            <a:chExt cx="27397010" cy="13989960"/>
          </a:xfrm>
        </p:grpSpPr>
        <p:sp>
          <p:nvSpPr>
            <p:cNvPr id="4" name="Freeform 4"/>
            <p:cNvSpPr/>
            <p:nvPr/>
          </p:nvSpPr>
          <p:spPr>
            <a:xfrm>
              <a:off x="15981873" y="3017160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7" y="0"/>
                  </a:lnTo>
                  <a:lnTo>
                    <a:pt x="1141513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4930550" y="2277711"/>
              <a:ext cx="7603721" cy="6358612"/>
            </a:xfrm>
            <a:custGeom>
              <a:avLst/>
              <a:gdLst/>
              <a:ahLst/>
              <a:cxnLst/>
              <a:rect l="l" t="t" r="r" b="b"/>
              <a:pathLst>
                <a:path w="7603721" h="6358612">
                  <a:moveTo>
                    <a:pt x="0" y="0"/>
                  </a:moveTo>
                  <a:lnTo>
                    <a:pt x="7603721" y="0"/>
                  </a:lnTo>
                  <a:lnTo>
                    <a:pt x="7603721" y="6358612"/>
                  </a:lnTo>
                  <a:lnTo>
                    <a:pt x="0" y="6358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1335395" y="2634019"/>
              <a:ext cx="11220006" cy="45507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42"/>
                </a:lnSpc>
                <a:spcBef>
                  <a:spcPct val="0"/>
                </a:spcBef>
              </a:pP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“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Detecting fetal brain abnormalities from ultrasound images is challenging due to the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limited availability of labeled abnormal data.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An unsupervised method is needed to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learn healthy brain patterns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and identify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potential anomalies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without requiring abnormal images for training.”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81934" y="9005082"/>
              <a:ext cx="9713942" cy="3705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725"/>
                </a:lnSpc>
              </a:pPr>
              <a:r>
                <a:rPr lang="en-US" sz="2779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Goal achieved : </a:t>
              </a:r>
            </a:p>
            <a:p>
              <a:pPr marL="0" lvl="0" indent="0" algn="just">
                <a:lnSpc>
                  <a:spcPts val="3725"/>
                </a:lnSpc>
              </a:pPr>
              <a:r>
                <a:rPr lang="en-US" sz="2779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To develop and evaluate an unsupervised anomaly detection framework for fetal brain ultrasound that can detect potential abnormalities without requiring abnormal images during model training.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336383" y="209550"/>
              <a:ext cx="13179509" cy="1651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724"/>
                </a:lnSpc>
              </a:pPr>
              <a:r>
                <a:rPr lang="en-US" sz="9183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Problem Statement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20585258" y="10719582"/>
              <a:ext cx="2208367" cy="2255497"/>
            </a:xfrm>
            <a:custGeom>
              <a:avLst/>
              <a:gdLst/>
              <a:ahLst/>
              <a:cxnLst/>
              <a:rect l="l" t="t" r="r" b="b"/>
              <a:pathLst>
                <a:path w="2208367" h="2255497">
                  <a:moveTo>
                    <a:pt x="0" y="0"/>
                  </a:moveTo>
                  <a:lnTo>
                    <a:pt x="2208367" y="0"/>
                  </a:lnTo>
                  <a:lnTo>
                    <a:pt x="2208367" y="2255497"/>
                  </a:lnTo>
                  <a:lnTo>
                    <a:pt x="0" y="2255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0" y="9255933"/>
              <a:ext cx="3498518" cy="3498518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 w="38100" cap="sq">
                <a:solidFill>
                  <a:srgbClr val="457E85"/>
                </a:solidFill>
                <a:prstDash val="solid"/>
                <a:miter/>
              </a:ln>
            </p:spPr>
          </p:sp>
        </p:grpSp>
      </p:grpSp>
      <p:sp>
        <p:nvSpPr>
          <p:cNvPr id="12" name="TextBox 12"/>
          <p:cNvSpPr txBox="1"/>
          <p:nvPr/>
        </p:nvSpPr>
        <p:spPr>
          <a:xfrm>
            <a:off x="17758296" y="9625509"/>
            <a:ext cx="18184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280676" y="330967"/>
            <a:ext cx="26290633" cy="12289126"/>
            <a:chOff x="0" y="0"/>
            <a:chExt cx="35054177" cy="16385501"/>
          </a:xfrm>
        </p:grpSpPr>
        <p:sp>
          <p:nvSpPr>
            <p:cNvPr id="4" name="Freeform 4"/>
            <p:cNvSpPr/>
            <p:nvPr/>
          </p:nvSpPr>
          <p:spPr>
            <a:xfrm>
              <a:off x="0" y="5412701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7" y="0"/>
                  </a:lnTo>
                  <a:lnTo>
                    <a:pt x="1141513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2138594">
              <a:off x="8165532" y="1750058"/>
              <a:ext cx="5852580" cy="10763366"/>
            </a:xfrm>
            <a:custGeom>
              <a:avLst/>
              <a:gdLst/>
              <a:ahLst/>
              <a:cxnLst/>
              <a:rect l="l" t="t" r="r" b="b"/>
              <a:pathLst>
                <a:path w="5852580" h="10763366">
                  <a:moveTo>
                    <a:pt x="0" y="0"/>
                  </a:moveTo>
                  <a:lnTo>
                    <a:pt x="5852581" y="0"/>
                  </a:lnTo>
                  <a:lnTo>
                    <a:pt x="5852581" y="10763366"/>
                  </a:lnTo>
                  <a:lnTo>
                    <a:pt x="0" y="10763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3639040" y="1511022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7" y="0"/>
                  </a:lnTo>
                  <a:lnTo>
                    <a:pt x="1141513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14870394" y="4116052"/>
              <a:ext cx="12754760" cy="167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336"/>
                </a:lnSpc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Early detection of brain anomalies supports timely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clinical decisions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and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counselling.</a:t>
              </a:r>
            </a:p>
            <a:p>
              <a:pPr marL="0" lvl="0" indent="0" algn="just">
                <a:lnSpc>
                  <a:spcPts val="3336"/>
                </a:lnSpc>
              </a:pPr>
              <a:endParaRPr lang="en-US" sz="2780" b="1">
                <a:solidFill>
                  <a:srgbClr val="000000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870394" y="7387355"/>
              <a:ext cx="1275476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36"/>
                </a:lnSpc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A label-free method can generalise to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rare and unseen malformations.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870394" y="9581386"/>
              <a:ext cx="12754760" cy="1117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36"/>
                </a:lnSpc>
              </a:pP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Diffusion models </a:t>
              </a:r>
              <a:r>
                <a:rPr lang="en-US" sz="27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succeeded in brain MRI</a:t>
              </a:r>
              <a:r>
                <a:rPr lang="en-US" sz="27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, but fetal brain US is largely unexplored.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183868" y="209550"/>
              <a:ext cx="9431401" cy="1651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724"/>
                </a:lnSpc>
              </a:pPr>
              <a:r>
                <a:rPr lang="en-US" sz="9183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Motivation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758296" y="9625509"/>
            <a:ext cx="18184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675554" y="1726433"/>
            <a:ext cx="11258733" cy="4742741"/>
          </a:xfrm>
          <a:custGeom>
            <a:avLst/>
            <a:gdLst/>
            <a:ahLst/>
            <a:cxnLst/>
            <a:rect l="l" t="t" r="r" b="b"/>
            <a:pathLst>
              <a:path w="11258733" h="4742741">
                <a:moveTo>
                  <a:pt x="0" y="0"/>
                </a:moveTo>
                <a:lnTo>
                  <a:pt x="11258733" y="0"/>
                </a:lnTo>
                <a:lnTo>
                  <a:pt x="11258733" y="4742741"/>
                </a:lnTo>
                <a:lnTo>
                  <a:pt x="0" y="47427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601885" y="6587325"/>
            <a:ext cx="13084230" cy="3475499"/>
          </a:xfrm>
          <a:custGeom>
            <a:avLst/>
            <a:gdLst/>
            <a:ahLst/>
            <a:cxnLst/>
            <a:rect l="l" t="t" r="r" b="b"/>
            <a:pathLst>
              <a:path w="13084230" h="3475499">
                <a:moveTo>
                  <a:pt x="0" y="0"/>
                </a:moveTo>
                <a:lnTo>
                  <a:pt x="13084230" y="0"/>
                </a:lnTo>
                <a:lnTo>
                  <a:pt x="13084230" y="3475498"/>
                </a:lnTo>
                <a:lnTo>
                  <a:pt x="0" y="3475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511267" y="540517"/>
            <a:ext cx="9587306" cy="11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24"/>
              </a:lnSpc>
            </a:pPr>
            <a:r>
              <a:rPr lang="en-US" sz="9183">
                <a:solidFill>
                  <a:srgbClr val="1F2C3B"/>
                </a:solidFill>
                <a:latin typeface="Lilita One"/>
                <a:ea typeface="Lilita One"/>
                <a:cs typeface="Lilita One"/>
                <a:sym typeface="Lilita One"/>
              </a:rPr>
              <a:t>Existing 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58296" y="9625509"/>
            <a:ext cx="18184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03769" y="507301"/>
            <a:ext cx="19083521" cy="12865799"/>
            <a:chOff x="0" y="0"/>
            <a:chExt cx="25444695" cy="17154398"/>
          </a:xfrm>
        </p:grpSpPr>
        <p:sp>
          <p:nvSpPr>
            <p:cNvPr id="4" name="TextBox 4"/>
            <p:cNvSpPr txBox="1"/>
            <p:nvPr/>
          </p:nvSpPr>
          <p:spPr>
            <a:xfrm>
              <a:off x="566575" y="209550"/>
              <a:ext cx="8023148" cy="1652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721"/>
                </a:lnSpc>
              </a:pPr>
              <a:r>
                <a:rPr lang="en-US" sz="9180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Advantages </a:t>
              </a:r>
            </a:p>
          </p:txBody>
        </p:sp>
        <p:sp>
          <p:nvSpPr>
            <p:cNvPr id="5" name="Freeform 5"/>
            <p:cNvSpPr/>
            <p:nvPr/>
          </p:nvSpPr>
          <p:spPr>
            <a:xfrm>
              <a:off x="14029558" y="6181598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7" y="0"/>
                  </a:lnTo>
                  <a:lnTo>
                    <a:pt x="11415137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788983">
              <a:off x="19589594" y="4176782"/>
              <a:ext cx="3529818" cy="4447015"/>
            </a:xfrm>
            <a:custGeom>
              <a:avLst/>
              <a:gdLst/>
              <a:ahLst/>
              <a:cxnLst/>
              <a:rect l="l" t="t" r="r" b="b"/>
              <a:pathLst>
                <a:path w="3529818" h="4447015">
                  <a:moveTo>
                    <a:pt x="0" y="0"/>
                  </a:moveTo>
                  <a:lnTo>
                    <a:pt x="3529819" y="0"/>
                  </a:lnTo>
                  <a:lnTo>
                    <a:pt x="3529819" y="4447015"/>
                  </a:lnTo>
                  <a:lnTo>
                    <a:pt x="0" y="4447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2561548"/>
              <a:ext cx="9156298" cy="832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2255" lvl="1" indent="-246128" algn="just">
                <a:lnSpc>
                  <a:spcPts val="3898"/>
                </a:lnSpc>
                <a:buFont typeface="Arial"/>
                <a:buChar char="•"/>
              </a:pPr>
              <a:r>
                <a:rPr lang="en-US" sz="22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Unsupervised learning:</a:t>
              </a:r>
              <a:r>
                <a:rPr lang="en-US" sz="22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Does not require abnormal images during model training.</a:t>
              </a:r>
            </a:p>
            <a:p>
              <a:pPr marL="492255" lvl="1" indent="-246128" algn="just">
                <a:lnSpc>
                  <a:spcPts val="3898"/>
                </a:lnSpc>
                <a:buFont typeface="Arial"/>
                <a:buChar char="•"/>
              </a:pPr>
              <a:r>
                <a:rPr lang="en-US" sz="22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Reduces annotation dependency:</a:t>
              </a:r>
              <a:r>
                <a:rPr lang="en-US" sz="22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Avoids the need for extensive expert-labeled anomaly data.</a:t>
              </a:r>
            </a:p>
            <a:p>
              <a:pPr marL="492255" lvl="1" indent="-246128" algn="just">
                <a:lnSpc>
                  <a:spcPts val="3898"/>
                </a:lnSpc>
                <a:buFont typeface="Arial"/>
                <a:buChar char="•"/>
              </a:pPr>
              <a:r>
                <a:rPr lang="en-US" sz="22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Learns healthy patterns: </a:t>
              </a:r>
              <a:r>
                <a:rPr lang="en-US" sz="22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The diffusion model learns the appearance of normal fetal brain ultrasound.</a:t>
              </a:r>
            </a:p>
            <a:p>
              <a:pPr marL="492255" lvl="1" indent="-246128" algn="just">
                <a:lnSpc>
                  <a:spcPts val="3898"/>
                </a:lnSpc>
                <a:buFont typeface="Arial"/>
                <a:buChar char="•"/>
              </a:pPr>
              <a:r>
                <a:rPr lang="en-US" sz="22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Anomaly localization:</a:t>
              </a:r>
              <a:r>
                <a:rPr lang="en-US" sz="22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Produces anomaly maps that can highlight potentially abnormal regions.</a:t>
              </a:r>
            </a:p>
            <a:p>
              <a:pPr marL="492255" lvl="1" indent="-246128" algn="just">
                <a:lnSpc>
                  <a:spcPts val="3898"/>
                </a:lnSpc>
                <a:buFont typeface="Arial"/>
                <a:buChar char="•"/>
              </a:pPr>
              <a:r>
                <a:rPr lang="en-US" sz="22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Automated preprocessing:</a:t>
              </a:r>
              <a:r>
                <a:rPr lang="en-US" sz="22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Uses </a:t>
              </a:r>
              <a:r>
                <a:rPr lang="en-US" sz="22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standard-plane detection</a:t>
              </a:r>
              <a:r>
                <a:rPr lang="en-US" sz="22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and </a:t>
              </a:r>
              <a:r>
                <a:rPr lang="en-US" sz="22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brain segmentation</a:t>
              </a:r>
              <a:r>
                <a:rPr lang="en-US" sz="22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to focus on the relevant region.</a:t>
              </a:r>
            </a:p>
            <a:p>
              <a:pPr marL="0" lvl="0" indent="0" algn="just">
                <a:lnSpc>
                  <a:spcPts val="3898"/>
                </a:lnSpc>
              </a:pPr>
              <a:endParaRPr lang="en-US" sz="228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00469" y="2561548"/>
              <a:ext cx="9436657" cy="89756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2254" lvl="1" indent="-246127" algn="just">
                <a:lnSpc>
                  <a:spcPts val="3898"/>
                </a:lnSpc>
                <a:buFont typeface="Arial"/>
                <a:buChar char="•"/>
              </a:pPr>
              <a:r>
                <a:rPr lang="en-US" sz="22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Limited dataset:</a:t>
              </a:r>
              <a:r>
                <a:rPr lang="en-US" sz="22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The study uses a relatively small curated dataset for training and evaluation.</a:t>
              </a:r>
            </a:p>
            <a:p>
              <a:pPr marL="492254" lvl="1" indent="-246127" algn="just">
                <a:lnSpc>
                  <a:spcPts val="3898"/>
                </a:lnSpc>
                <a:buFont typeface="Arial"/>
                <a:buChar char="•"/>
              </a:pPr>
              <a:r>
                <a:rPr lang="en-US" sz="22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Image-quality dependency:</a:t>
              </a:r>
              <a:r>
                <a:rPr lang="en-US" sz="22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Ultrasound image quality and acquisition variations can affect performance.</a:t>
              </a:r>
            </a:p>
            <a:p>
              <a:pPr marL="492254" lvl="1" indent="-246127" algn="just">
                <a:lnSpc>
                  <a:spcPts val="3898"/>
                </a:lnSpc>
                <a:buFont typeface="Arial"/>
                <a:buChar char="•"/>
              </a:pPr>
              <a:r>
                <a:rPr lang="en-US" sz="22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False positives:</a:t>
              </a:r>
              <a:r>
                <a:rPr lang="en-US" sz="22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Normal anatomical variations or image artifacts may be incorrectly identified as anomalies.</a:t>
              </a:r>
            </a:p>
            <a:p>
              <a:pPr marL="492254" lvl="1" indent="-246127" algn="just">
                <a:lnSpc>
                  <a:spcPts val="3898"/>
                </a:lnSpc>
                <a:buFont typeface="Arial"/>
                <a:buChar char="•"/>
              </a:pPr>
              <a:r>
                <a:rPr lang="en-US" sz="22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Detection performance:</a:t>
              </a:r>
              <a:r>
                <a:rPr lang="en-US" sz="22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The reported AUROC was </a:t>
              </a:r>
              <a:r>
                <a:rPr lang="en-US" sz="22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66.6%</a:t>
              </a:r>
              <a:r>
                <a:rPr lang="en-US" sz="22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for the best AUPRC configuration, showing that further improvement is needed. </a:t>
              </a:r>
            </a:p>
            <a:p>
              <a:pPr marL="492254" lvl="1" indent="-246127" algn="just">
                <a:lnSpc>
                  <a:spcPts val="3898"/>
                </a:lnSpc>
                <a:buFont typeface="Arial"/>
                <a:buChar char="•"/>
              </a:pPr>
              <a:r>
                <a:rPr lang="en-US" sz="2280" b="1">
                  <a:solidFill>
                    <a:srgbClr val="000000"/>
                  </a:solidFill>
                  <a:latin typeface="Noto Serif Ethiopic Condensed Bold"/>
                  <a:ea typeface="Noto Serif Ethiopic Condensed Bold"/>
                  <a:cs typeface="Noto Serif Ethiopic Condensed Bold"/>
                  <a:sym typeface="Noto Serif Ethiopic Condensed Bold"/>
                </a:rPr>
                <a:t>Clinical validation required:</a:t>
              </a:r>
              <a:r>
                <a:rPr lang="en-US" sz="2280">
                  <a:solidFill>
                    <a:srgbClr val="000000"/>
                  </a:solidFill>
                  <a:latin typeface="Noto Serif Ethiopic Condensed"/>
                  <a:ea typeface="Noto Serif Ethiopic Condensed"/>
                  <a:cs typeface="Noto Serif Ethiopic Condensed"/>
                  <a:sym typeface="Noto Serif Ethiopic Condensed"/>
                </a:rPr>
                <a:t> The framework requires further validation on larger and more diverse clinical datasets before practical clinical use.</a:t>
              </a:r>
            </a:p>
            <a:p>
              <a:pPr marL="0" lvl="0" indent="0" algn="just">
                <a:lnSpc>
                  <a:spcPts val="3898"/>
                </a:lnSpc>
              </a:pPr>
              <a:endParaRPr lang="en-US" sz="228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86975" y="38100"/>
              <a:ext cx="7475538" cy="1817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557"/>
                </a:lnSpc>
                <a:spcBef>
                  <a:spcPct val="0"/>
                </a:spcBef>
              </a:pPr>
              <a:r>
                <a:rPr lang="en-US" sz="9180">
                  <a:solidFill>
                    <a:srgbClr val="000000"/>
                  </a:solidFill>
                  <a:latin typeface="Lilita One"/>
                  <a:ea typeface="Lilita One"/>
                  <a:cs typeface="Lilita One"/>
                  <a:sym typeface="Lilita One"/>
                </a:rPr>
                <a:t>Limitations</a:t>
              </a:r>
            </a:p>
          </p:txBody>
        </p:sp>
        <p:sp>
          <p:nvSpPr>
            <p:cNvPr id="10" name="Freeform 10"/>
            <p:cNvSpPr/>
            <p:nvPr/>
          </p:nvSpPr>
          <p:spPr>
            <a:xfrm rot="-152283">
              <a:off x="3012752" y="10029439"/>
              <a:ext cx="2667927" cy="2200243"/>
            </a:xfrm>
            <a:custGeom>
              <a:avLst/>
              <a:gdLst/>
              <a:ahLst/>
              <a:cxnLst/>
              <a:rect l="l" t="t" r="r" b="b"/>
              <a:pathLst>
                <a:path w="2667927" h="2200243">
                  <a:moveTo>
                    <a:pt x="0" y="0"/>
                  </a:moveTo>
                  <a:lnTo>
                    <a:pt x="2667927" y="0"/>
                  </a:lnTo>
                  <a:lnTo>
                    <a:pt x="2667927" y="2200242"/>
                  </a:lnTo>
                  <a:lnTo>
                    <a:pt x="0" y="2200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32999"/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7758296" y="9625509"/>
            <a:ext cx="18184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721957" y="1464234"/>
            <a:ext cx="25731913" cy="8229600"/>
            <a:chOff x="0" y="0"/>
            <a:chExt cx="34309217" cy="10972800"/>
          </a:xfrm>
        </p:grpSpPr>
        <p:sp>
          <p:nvSpPr>
            <p:cNvPr id="4" name="Freeform 4"/>
            <p:cNvSpPr/>
            <p:nvPr/>
          </p:nvSpPr>
          <p:spPr>
            <a:xfrm>
              <a:off x="22894081" y="0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0" y="0"/>
                  </a:moveTo>
                  <a:lnTo>
                    <a:pt x="11415136" y="0"/>
                  </a:lnTo>
                  <a:lnTo>
                    <a:pt x="11415136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>
              <a:off x="0" y="0"/>
              <a:ext cx="11415137" cy="10972800"/>
            </a:xfrm>
            <a:custGeom>
              <a:avLst/>
              <a:gdLst/>
              <a:ahLst/>
              <a:cxnLst/>
              <a:rect l="l" t="t" r="r" b="b"/>
              <a:pathLst>
                <a:path w="11415137" h="10972800">
                  <a:moveTo>
                    <a:pt x="11415137" y="0"/>
                  </a:moveTo>
                  <a:lnTo>
                    <a:pt x="0" y="0"/>
                  </a:lnTo>
                  <a:lnTo>
                    <a:pt x="0" y="10972800"/>
                  </a:lnTo>
                  <a:lnTo>
                    <a:pt x="11415137" y="10972800"/>
                  </a:lnTo>
                  <a:lnTo>
                    <a:pt x="11415137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8235296" y="2696897"/>
              <a:ext cx="17838626" cy="35938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040"/>
                </a:lnSpc>
              </a:pPr>
              <a:r>
                <a:rPr lang="en-US" sz="20042">
                  <a:solidFill>
                    <a:srgbClr val="1F2C3B"/>
                  </a:solidFill>
                  <a:latin typeface="Lilita One"/>
                  <a:ea typeface="Lilita One"/>
                  <a:cs typeface="Lilita One"/>
                  <a:sym typeface="Lilita One"/>
                </a:rPr>
                <a:t>Thank You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758296" y="9625509"/>
            <a:ext cx="18184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Custom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Lilita One</vt:lpstr>
      <vt:lpstr>Noto Serif Ethiopic Condensed Bold</vt:lpstr>
      <vt:lpstr>Noto Serif Ethiopic Condensed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 model</dc:title>
  <cp:lastModifiedBy>HITESH CV</cp:lastModifiedBy>
  <cp:revision>2</cp:revision>
  <dcterms:created xsi:type="dcterms:W3CDTF">2006-08-16T00:00:00Z</dcterms:created>
  <dcterms:modified xsi:type="dcterms:W3CDTF">2026-10-15T15:56:41Z</dcterms:modified>
  <dc:identifier>DAHYF0rCylA</dc:identifier>
</cp:coreProperties>
</file>