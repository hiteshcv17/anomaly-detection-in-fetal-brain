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 (MS)" panose="020B0604020202020204" charset="0"/>
      <p:regular r:id="rId9"/>
    </p:embeddedFont>
    <p:embeddedFont>
      <p:font typeface="Calibri (MS) Bold" panose="020B0604020202020204" charset="0"/>
      <p:regular r:id="rId10"/>
    </p:embeddedFont>
    <p:embeddedFont>
      <p:font typeface="Lilita One" panose="020B0604020202020204" charset="0"/>
      <p:regular r:id="rId11"/>
    </p:embeddedFont>
    <p:embeddedFont>
      <p:font typeface="Noto Serif Ethiopic Condensed" panose="020B0604020202020204" charset="0"/>
      <p:regular r:id="rId12"/>
    </p:embeddedFont>
    <p:embeddedFont>
      <p:font typeface="Noto Serif Ethiopic Condensed 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960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80691" y="-3086100"/>
            <a:ext cx="27732206" cy="16954151"/>
            <a:chOff x="0" y="0"/>
            <a:chExt cx="36976275" cy="22605535"/>
          </a:xfrm>
        </p:grpSpPr>
        <p:sp>
          <p:nvSpPr>
            <p:cNvPr id="4" name="Freeform 4"/>
            <p:cNvSpPr/>
            <p:nvPr/>
          </p:nvSpPr>
          <p:spPr>
            <a:xfrm rot="-2376610">
              <a:off x="8312595" y="3735451"/>
              <a:ext cx="17921941" cy="17227466"/>
            </a:xfrm>
            <a:custGeom>
              <a:avLst/>
              <a:gdLst/>
              <a:ahLst/>
              <a:cxnLst/>
              <a:rect l="l" t="t" r="r" b="b"/>
              <a:pathLst>
                <a:path w="17921941" h="17227466">
                  <a:moveTo>
                    <a:pt x="0" y="0"/>
                  </a:moveTo>
                  <a:lnTo>
                    <a:pt x="17921941" y="0"/>
                  </a:lnTo>
                  <a:lnTo>
                    <a:pt x="17921941" y="17227466"/>
                  </a:lnTo>
                  <a:lnTo>
                    <a:pt x="0" y="17227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0000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2591372">
              <a:off x="17251973" y="15841553"/>
              <a:ext cx="2628188" cy="2593204"/>
            </a:xfrm>
            <a:custGeom>
              <a:avLst/>
              <a:gdLst/>
              <a:ahLst/>
              <a:cxnLst/>
              <a:rect l="l" t="t" r="r" b="b"/>
              <a:pathLst>
                <a:path w="2628188" h="2593204">
                  <a:moveTo>
                    <a:pt x="0" y="0"/>
                  </a:moveTo>
                  <a:lnTo>
                    <a:pt x="2628188" y="0"/>
                  </a:lnTo>
                  <a:lnTo>
                    <a:pt x="2628188" y="2593204"/>
                  </a:lnTo>
                  <a:lnTo>
                    <a:pt x="0" y="2593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4249005">
              <a:off x="26990444" y="10380404"/>
              <a:ext cx="2655257" cy="2246213"/>
            </a:xfrm>
            <a:custGeom>
              <a:avLst/>
              <a:gdLst/>
              <a:ahLst/>
              <a:cxnLst/>
              <a:rect l="l" t="t" r="r" b="b"/>
              <a:pathLst>
                <a:path w="2655257" h="2246213">
                  <a:moveTo>
                    <a:pt x="0" y="0"/>
                  </a:moveTo>
                  <a:lnTo>
                    <a:pt x="2655257" y="0"/>
                  </a:lnTo>
                  <a:lnTo>
                    <a:pt x="2655257" y="2246213"/>
                  </a:lnTo>
                  <a:lnTo>
                    <a:pt x="0" y="2246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5119900" y="6380574"/>
              <a:ext cx="1602896" cy="1572281"/>
            </a:xfrm>
            <a:custGeom>
              <a:avLst/>
              <a:gdLst/>
              <a:ahLst/>
              <a:cxnLst/>
              <a:rect l="l" t="t" r="r" b="b"/>
              <a:pathLst>
                <a:path w="1602896" h="1572281">
                  <a:moveTo>
                    <a:pt x="0" y="0"/>
                  </a:moveTo>
                  <a:lnTo>
                    <a:pt x="1602896" y="0"/>
                  </a:lnTo>
                  <a:lnTo>
                    <a:pt x="1602896" y="1572281"/>
                  </a:lnTo>
                  <a:lnTo>
                    <a:pt x="0" y="1572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95220" y="13722751"/>
              <a:ext cx="3005645" cy="3530861"/>
            </a:xfrm>
            <a:custGeom>
              <a:avLst/>
              <a:gdLst/>
              <a:ahLst/>
              <a:cxnLst/>
              <a:rect l="l" t="t" r="r" b="b"/>
              <a:pathLst>
                <a:path w="3005645" h="3530861">
                  <a:moveTo>
                    <a:pt x="0" y="0"/>
                  </a:moveTo>
                  <a:lnTo>
                    <a:pt x="3005646" y="0"/>
                  </a:lnTo>
                  <a:lnTo>
                    <a:pt x="3005646" y="3530860"/>
                  </a:lnTo>
                  <a:lnTo>
                    <a:pt x="0" y="353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5561138" y="11632735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0" y="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2136455" y="8452799"/>
              <a:ext cx="13424683" cy="2718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03"/>
                </a:lnSpc>
              </a:pPr>
              <a:r>
                <a:rPr lang="en-US" sz="5582" dirty="0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Diffusion-Based Unsupervised Anomaly Detection in Fetal Brain Ultrasound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772273" y="12459308"/>
              <a:ext cx="9792281" cy="1561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68"/>
                </a:lnSpc>
                <a:spcBef>
                  <a:spcPct val="0"/>
                </a:spcBef>
              </a:pPr>
              <a:r>
                <a:rPr lang="en-US" sz="2263" spc="316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MULTI-TIMESTEP SCORING AND AUTOMATED QUALITY ASSURANCE FOR MORE ROBUST ANOMALY MAPS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6631445" y="4342892"/>
              <a:ext cx="2723845" cy="2723845"/>
              <a:chOff x="0" y="0"/>
              <a:chExt cx="2723845" cy="272384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23896" cy="2723896"/>
              </a:xfrm>
              <a:custGeom>
                <a:avLst/>
                <a:gdLst/>
                <a:ahLst/>
                <a:cxnLst/>
                <a:rect l="l" t="t" r="r" b="b"/>
                <a:pathLst>
                  <a:path w="2723896" h="2723896">
                    <a:moveTo>
                      <a:pt x="0" y="0"/>
                    </a:moveTo>
                    <a:lnTo>
                      <a:pt x="2723896" y="0"/>
                    </a:lnTo>
                    <a:lnTo>
                      <a:pt x="2723896" y="2723896"/>
                    </a:lnTo>
                    <a:lnTo>
                      <a:pt x="0" y="272389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1" b="1"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7538468" y="4387444"/>
              <a:ext cx="2634742" cy="2634742"/>
              <a:chOff x="0" y="0"/>
              <a:chExt cx="2634742" cy="26347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634742" cy="2634742"/>
              </a:xfrm>
              <a:custGeom>
                <a:avLst/>
                <a:gdLst/>
                <a:ahLst/>
                <a:cxnLst/>
                <a:rect l="l" t="t" r="r" b="b"/>
                <a:pathLst>
                  <a:path w="2634742" h="2634742">
                    <a:moveTo>
                      <a:pt x="0" y="0"/>
                    </a:moveTo>
                    <a:lnTo>
                      <a:pt x="2634742" y="0"/>
                    </a:lnTo>
                    <a:lnTo>
                      <a:pt x="2634742" y="2634742"/>
                    </a:lnTo>
                    <a:lnTo>
                      <a:pt x="0" y="263474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9783845" y="4756351"/>
              <a:ext cx="17769136" cy="2161684"/>
              <a:chOff x="0" y="0"/>
              <a:chExt cx="19533381" cy="237631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533381" cy="2376309"/>
              </a:xfrm>
              <a:custGeom>
                <a:avLst/>
                <a:gdLst/>
                <a:ahLst/>
                <a:cxnLst/>
                <a:rect l="l" t="t" r="r" b="b"/>
                <a:pathLst>
                  <a:path w="19533381" h="2376309">
                    <a:moveTo>
                      <a:pt x="0" y="0"/>
                    </a:moveTo>
                    <a:lnTo>
                      <a:pt x="19533381" y="0"/>
                    </a:lnTo>
                    <a:lnTo>
                      <a:pt x="19533381" y="2376309"/>
                    </a:lnTo>
                    <a:lnTo>
                      <a:pt x="0" y="2376309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t="-72168" r="6375" b="-127743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9533381" cy="2347736"/>
              </a:xfrm>
              <a:prstGeom prst="rect">
                <a:avLst/>
              </a:prstGeom>
            </p:spPr>
            <p:txBody>
              <a:bodyPr lIns="0" tIns="0" rIns="0" bIns="0" rtlCol="0" anchor="b"/>
              <a:lstStyle/>
              <a:p>
                <a:pPr algn="ctr">
                  <a:lnSpc>
                    <a:spcPts val="5184"/>
                  </a:lnSpc>
                </a:pPr>
                <a:r>
                  <a:rPr lang="en-US" sz="4800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MAHARAJA INSTITUTE OF TECHNOLOGY,</a:t>
                </a:r>
              </a:p>
              <a:p>
                <a:pPr algn="ctr">
                  <a:lnSpc>
                    <a:spcPts val="5184"/>
                  </a:lnSpc>
                </a:pPr>
                <a:r>
                  <a:rPr lang="en-US" sz="4800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MYSORE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4303589" y="15442705"/>
              <a:ext cx="5365287" cy="1695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SUBMITTED BY :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HITESH C V [4MH24IS034]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BHUVAN C  [4MH24IS008]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681956" y="8457828"/>
              <a:ext cx="1602896" cy="1572281"/>
            </a:xfrm>
            <a:custGeom>
              <a:avLst/>
              <a:gdLst/>
              <a:ahLst/>
              <a:cxnLst/>
              <a:rect l="l" t="t" r="r" b="b"/>
              <a:pathLst>
                <a:path w="1602896" h="1572281">
                  <a:moveTo>
                    <a:pt x="0" y="0"/>
                  </a:moveTo>
                  <a:lnTo>
                    <a:pt x="1602896" y="0"/>
                  </a:lnTo>
                  <a:lnTo>
                    <a:pt x="1602896" y="1572281"/>
                  </a:lnTo>
                  <a:lnTo>
                    <a:pt x="0" y="1572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2509263" y="14702040"/>
              <a:ext cx="1602896" cy="1572281"/>
            </a:xfrm>
            <a:custGeom>
              <a:avLst/>
              <a:gdLst/>
              <a:ahLst/>
              <a:cxnLst/>
              <a:rect l="l" t="t" r="r" b="b"/>
              <a:pathLst>
                <a:path w="1602896" h="1572281">
                  <a:moveTo>
                    <a:pt x="0" y="0"/>
                  </a:moveTo>
                  <a:lnTo>
                    <a:pt x="1602896" y="0"/>
                  </a:lnTo>
                  <a:lnTo>
                    <a:pt x="1602896" y="1572282"/>
                  </a:lnTo>
                  <a:lnTo>
                    <a:pt x="0" y="15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280676" y="330967"/>
            <a:ext cx="20664007" cy="12289126"/>
            <a:chOff x="0" y="0"/>
            <a:chExt cx="27552009" cy="16385501"/>
          </a:xfrm>
        </p:grpSpPr>
        <p:sp>
          <p:nvSpPr>
            <p:cNvPr id="4" name="Freeform 4"/>
            <p:cNvSpPr/>
            <p:nvPr/>
          </p:nvSpPr>
          <p:spPr>
            <a:xfrm>
              <a:off x="0" y="5412701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138594">
              <a:off x="8165532" y="1750058"/>
              <a:ext cx="5852580" cy="10763366"/>
            </a:xfrm>
            <a:custGeom>
              <a:avLst/>
              <a:gdLst/>
              <a:ahLst/>
              <a:cxnLst/>
              <a:rect l="l" t="t" r="r" b="b"/>
              <a:pathLst>
                <a:path w="5852580" h="10763366">
                  <a:moveTo>
                    <a:pt x="0" y="0"/>
                  </a:moveTo>
                  <a:lnTo>
                    <a:pt x="5852581" y="0"/>
                  </a:lnTo>
                  <a:lnTo>
                    <a:pt x="5852581" y="10763366"/>
                  </a:lnTo>
                  <a:lnTo>
                    <a:pt x="0" y="1076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13183868" y="209550"/>
              <a:ext cx="9431401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Introduction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97249" y="3119401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0"/>
                </a:lnSpc>
              </a:pPr>
              <a:r>
                <a:rPr lang="en-US" sz="2775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Ultrasound </a:t>
              </a:r>
              <a:r>
                <a:rPr lang="en-US" sz="2775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(US) is the </a:t>
              </a:r>
              <a:r>
                <a:rPr lang="en-US" sz="2775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standard tool </a:t>
              </a:r>
              <a:r>
                <a:rPr lang="en-US" sz="2775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for </a:t>
              </a:r>
              <a:r>
                <a:rPr lang="en-US" sz="2775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parental care</a:t>
              </a:r>
              <a:r>
                <a:rPr lang="en-US" sz="2775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because it is safe, real-time, and low-cost.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97249" y="5373092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0"/>
                </a:lnSpc>
              </a:pP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The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mid-pregnancy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scan (about 22 weeks) is key for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finding fetal brain anomalies.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70394" y="8931310"/>
              <a:ext cx="12681616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30"/>
                </a:lnSpc>
              </a:pP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Image quality suffers from acoustic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shadows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speckle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noise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and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motion blur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97249" y="7153310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30"/>
                </a:lnSpc>
                <a:spcBef>
                  <a:spcPct val="0"/>
                </a:spcBef>
              </a:pP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Unsupervised anomaly detection 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(UAD) trains only on healthy scans and flags anything that deviates from normal anatomy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97249" y="10899101"/>
              <a:ext cx="1275476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30"/>
                </a:lnSpc>
                <a:spcBef>
                  <a:spcPct val="0"/>
                </a:spcBef>
              </a:pP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Denoising diffusion models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(DDPMs) generate a "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pseudo-healthy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" version of a scan. The difference from the original gives an anomaly heatmap.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0982" y="330967"/>
            <a:ext cx="20547757" cy="10492470"/>
            <a:chOff x="0" y="0"/>
            <a:chExt cx="27397010" cy="13989960"/>
          </a:xfrm>
        </p:grpSpPr>
        <p:sp>
          <p:nvSpPr>
            <p:cNvPr id="4" name="Freeform 4"/>
            <p:cNvSpPr/>
            <p:nvPr/>
          </p:nvSpPr>
          <p:spPr>
            <a:xfrm>
              <a:off x="15981873" y="301716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4930550" y="2277711"/>
              <a:ext cx="7603721" cy="6358612"/>
            </a:xfrm>
            <a:custGeom>
              <a:avLst/>
              <a:gdLst/>
              <a:ahLst/>
              <a:cxnLst/>
              <a:rect l="l" t="t" r="r" b="b"/>
              <a:pathLst>
                <a:path w="7603721" h="6358612">
                  <a:moveTo>
                    <a:pt x="0" y="0"/>
                  </a:moveTo>
                  <a:lnTo>
                    <a:pt x="7603721" y="0"/>
                  </a:lnTo>
                  <a:lnTo>
                    <a:pt x="7603721" y="6358612"/>
                  </a:lnTo>
                  <a:lnTo>
                    <a:pt x="0" y="635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3912860" y="8442289"/>
              <a:ext cx="9713942" cy="1498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72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Supervised classifiers cannot recognise anomaly types they never saw.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6126" y="2810959"/>
              <a:ext cx="11220006" cy="5325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42"/>
                </a:lnSpc>
                <a:spcBef>
                  <a:spcPct val="0"/>
                </a:spcBef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The current diffusion-based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pipeline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shows a "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noise paradox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":</a:t>
              </a:r>
            </a:p>
            <a:p>
              <a:pPr marL="600203" lvl="1" indent="-300101" algn="l">
                <a:lnSpc>
                  <a:spcPts val="46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Low noise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: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good reconstruction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but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pathology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is also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reconstructed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so it is missed.</a:t>
              </a:r>
            </a:p>
            <a:p>
              <a:pPr marL="600203" lvl="1" indent="-300101" algn="l">
                <a:lnSpc>
                  <a:spcPts val="46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High noise: pathology is removed, but healthy regions are altered, causing false positives.</a:t>
              </a:r>
            </a:p>
            <a:p>
              <a:pPr algn="l">
                <a:lnSpc>
                  <a:spcPts val="4642"/>
                </a:lnSpc>
                <a:spcBef>
                  <a:spcPct val="0"/>
                </a:spcBef>
              </a:pPr>
              <a:endParaRPr lang="en-US" sz="278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29707" y="10719582"/>
              <a:ext cx="9713942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5"/>
                </a:lnSpc>
              </a:pPr>
              <a:r>
                <a:rPr lang="en-US" sz="2779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Goal: build a more </a:t>
              </a:r>
              <a:r>
                <a:rPr lang="en-US" sz="2779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reliable UAD pipeline </a:t>
              </a:r>
              <a:r>
                <a:rPr lang="en-US" sz="2779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that </a:t>
              </a:r>
              <a:r>
                <a:rPr lang="en-US" sz="2779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reduces false positives</a:t>
              </a:r>
              <a:r>
                <a:rPr lang="en-US" sz="2779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and </a:t>
              </a:r>
              <a:r>
                <a:rPr lang="en-US" sz="2779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manual curation</a:t>
              </a:r>
              <a:r>
                <a:rPr lang="en-US" sz="2779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and evaluate it rigorously.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36383" y="209550"/>
              <a:ext cx="13179509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Problem Statement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585258" y="10719582"/>
              <a:ext cx="2208367" cy="2255497"/>
            </a:xfrm>
            <a:custGeom>
              <a:avLst/>
              <a:gdLst/>
              <a:ahLst/>
              <a:cxnLst/>
              <a:rect l="l" t="t" r="r" b="b"/>
              <a:pathLst>
                <a:path w="2208367" h="2255497">
                  <a:moveTo>
                    <a:pt x="0" y="0"/>
                  </a:moveTo>
                  <a:lnTo>
                    <a:pt x="2208367" y="0"/>
                  </a:lnTo>
                  <a:lnTo>
                    <a:pt x="2208367" y="2255497"/>
                  </a:lnTo>
                  <a:lnTo>
                    <a:pt x="0" y="225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9255933"/>
              <a:ext cx="3498518" cy="349851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38100" cap="sq">
                <a:solidFill>
                  <a:srgbClr val="457E85"/>
                </a:solidFill>
                <a:prstDash val="solid"/>
                <a:miter/>
              </a:ln>
            </p:spPr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280676" y="330967"/>
            <a:ext cx="26290633" cy="12289126"/>
            <a:chOff x="0" y="0"/>
            <a:chExt cx="35054177" cy="16385501"/>
          </a:xfrm>
        </p:grpSpPr>
        <p:sp>
          <p:nvSpPr>
            <p:cNvPr id="4" name="Freeform 4"/>
            <p:cNvSpPr/>
            <p:nvPr/>
          </p:nvSpPr>
          <p:spPr>
            <a:xfrm>
              <a:off x="0" y="5412701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138594">
              <a:off x="8165532" y="1750058"/>
              <a:ext cx="5852580" cy="10763366"/>
            </a:xfrm>
            <a:custGeom>
              <a:avLst/>
              <a:gdLst/>
              <a:ahLst/>
              <a:cxnLst/>
              <a:rect l="l" t="t" r="r" b="b"/>
              <a:pathLst>
                <a:path w="5852580" h="10763366">
                  <a:moveTo>
                    <a:pt x="0" y="0"/>
                  </a:moveTo>
                  <a:lnTo>
                    <a:pt x="5852581" y="0"/>
                  </a:lnTo>
                  <a:lnTo>
                    <a:pt x="5852581" y="10763366"/>
                  </a:lnTo>
                  <a:lnTo>
                    <a:pt x="0" y="1076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3639040" y="1511022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4870394" y="4116052"/>
              <a:ext cx="1275476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3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Early detection of brain anomalies supports timely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clinical decisions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and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counselling.</a:t>
              </a:r>
            </a:p>
            <a:p>
              <a:pPr marL="0" lvl="0" indent="0" algn="just">
                <a:lnSpc>
                  <a:spcPts val="3336"/>
                </a:lnSpc>
              </a:pPr>
              <a:endParaRPr lang="en-US" sz="278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870394" y="7387355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A label-free method can generalise to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rare and unseen malformations.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70394" y="9581386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Diffusion models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succeeded in brain MRI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but fetal brain US is largely unexplored.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83868" y="209550"/>
              <a:ext cx="9431401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Motivation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21957" y="330967"/>
            <a:ext cx="25731913" cy="9362867"/>
            <a:chOff x="0" y="0"/>
            <a:chExt cx="34309217" cy="12483822"/>
          </a:xfrm>
        </p:grpSpPr>
        <p:sp>
          <p:nvSpPr>
            <p:cNvPr id="4" name="Freeform 4"/>
            <p:cNvSpPr/>
            <p:nvPr/>
          </p:nvSpPr>
          <p:spPr>
            <a:xfrm>
              <a:off x="22894081" y="1511022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6" y="0"/>
                  </a:lnTo>
                  <a:lnTo>
                    <a:pt x="1141513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1511022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11415137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11415137" y="10972800"/>
                  </a:lnTo>
                  <a:lnTo>
                    <a:pt x="11415137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>
              <a:off x="6143709" y="1755810"/>
              <a:ext cx="22450921" cy="10668719"/>
              <a:chOff x="0" y="0"/>
              <a:chExt cx="22021800" cy="10464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2021800" cy="10464800"/>
              </a:xfrm>
              <a:custGeom>
                <a:avLst/>
                <a:gdLst/>
                <a:ahLst/>
                <a:cxnLst/>
                <a:rect l="l" t="t" r="r" b="b"/>
                <a:pathLst>
                  <a:path w="22021800" h="10464800">
                    <a:moveTo>
                      <a:pt x="177800" y="0"/>
                    </a:moveTo>
                    <a:lnTo>
                      <a:pt x="21844000" y="0"/>
                    </a:lnTo>
                    <a:cubicBezTo>
                      <a:pt x="21942196" y="0"/>
                      <a:pt x="22021800" y="79604"/>
                      <a:pt x="22021800" y="177800"/>
                    </a:cubicBezTo>
                    <a:lnTo>
                      <a:pt x="22021800" y="10287000"/>
                    </a:lnTo>
                    <a:cubicBezTo>
                      <a:pt x="22021800" y="10385196"/>
                      <a:pt x="21942196" y="10464800"/>
                      <a:pt x="21844000" y="10464800"/>
                    </a:cubicBezTo>
                    <a:lnTo>
                      <a:pt x="177800" y="10464800"/>
                    </a:lnTo>
                    <a:cubicBezTo>
                      <a:pt x="79604" y="10464800"/>
                      <a:pt x="0" y="10385196"/>
                      <a:pt x="0" y="1028700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2021800" cy="10512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296109" y="1908210"/>
              <a:ext cx="21717000" cy="914400"/>
              <a:chOff x="0" y="0"/>
              <a:chExt cx="21717000" cy="914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7170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914400">
                    <a:moveTo>
                      <a:pt x="101600" y="0"/>
                    </a:moveTo>
                    <a:lnTo>
                      <a:pt x="21615400" y="0"/>
                    </a:lnTo>
                    <a:cubicBezTo>
                      <a:pt x="21671513" y="0"/>
                      <a:pt x="21717000" y="45488"/>
                      <a:pt x="21717000" y="101600"/>
                    </a:cubicBezTo>
                    <a:lnTo>
                      <a:pt x="21717000" y="812800"/>
                    </a:lnTo>
                    <a:cubicBezTo>
                      <a:pt x="21717000" y="868912"/>
                      <a:pt x="21671513" y="914400"/>
                      <a:pt x="21615400" y="914400"/>
                    </a:cubicBezTo>
                    <a:lnTo>
                      <a:pt x="101600" y="914400"/>
                    </a:lnTo>
                    <a:cubicBezTo>
                      <a:pt x="45488" y="914400"/>
                      <a:pt x="0" y="868912"/>
                      <a:pt x="0" y="812800"/>
                    </a:cubicBezTo>
                    <a:lnTo>
                      <a:pt x="0" y="101600"/>
                    </a:ln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1F2C3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1717000" cy="962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296109" y="2822610"/>
              <a:ext cx="21717000" cy="1320800"/>
              <a:chOff x="0" y="0"/>
              <a:chExt cx="21717000" cy="1320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717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13208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BFCFC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1717000" cy="136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96109" y="4143410"/>
              <a:ext cx="21717000" cy="1320800"/>
              <a:chOff x="0" y="0"/>
              <a:chExt cx="21717000" cy="1320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1717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13208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1717000" cy="136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296109" y="5464210"/>
              <a:ext cx="21717000" cy="1320800"/>
              <a:chOff x="0" y="0"/>
              <a:chExt cx="21717000" cy="1320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717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13208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BFCFC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1717000" cy="136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296109" y="6785010"/>
              <a:ext cx="21717000" cy="1320800"/>
              <a:chOff x="0" y="0"/>
              <a:chExt cx="21717000" cy="1320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1717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13208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21717000" cy="136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296109" y="8105810"/>
              <a:ext cx="21717000" cy="1320800"/>
              <a:chOff x="0" y="0"/>
              <a:chExt cx="21717000" cy="1320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1717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13208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BFCFC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21717000" cy="136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96109" y="9426610"/>
              <a:ext cx="21717000" cy="1320800"/>
              <a:chOff x="0" y="0"/>
              <a:chExt cx="21717000" cy="1320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1717000" cy="13208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13208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1717000" cy="136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312609" y="1908210"/>
              <a:ext cx="25400" cy="10160000"/>
              <a:chOff x="0" y="0"/>
              <a:chExt cx="25400" cy="1016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5400" cy="101600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01600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0160000"/>
                    </a:lnTo>
                    <a:lnTo>
                      <a:pt x="0" y="101600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25400" cy="10207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7662609" y="1908210"/>
              <a:ext cx="25400" cy="10160000"/>
              <a:chOff x="0" y="0"/>
              <a:chExt cx="25400" cy="1016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5400" cy="101600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01600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10160000"/>
                    </a:lnTo>
                    <a:lnTo>
                      <a:pt x="0" y="101600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25400" cy="10207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96109" y="2822610"/>
              <a:ext cx="21717000" cy="25400"/>
              <a:chOff x="0" y="0"/>
              <a:chExt cx="21717000" cy="254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296109" y="4143410"/>
              <a:ext cx="21717000" cy="25400"/>
              <a:chOff x="0" y="0"/>
              <a:chExt cx="21717000" cy="25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296109" y="5464210"/>
              <a:ext cx="21717000" cy="25400"/>
              <a:chOff x="0" y="0"/>
              <a:chExt cx="21717000" cy="254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96109" y="6785010"/>
              <a:ext cx="21717000" cy="25400"/>
              <a:chOff x="0" y="0"/>
              <a:chExt cx="21717000" cy="254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96109" y="8105810"/>
              <a:ext cx="21717000" cy="25400"/>
              <a:chOff x="0" y="0"/>
              <a:chExt cx="21717000" cy="254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96109" y="9426610"/>
              <a:ext cx="21717000" cy="25400"/>
              <a:chOff x="0" y="0"/>
              <a:chExt cx="21717000" cy="254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296109" y="10747410"/>
              <a:ext cx="21717000" cy="25400"/>
              <a:chOff x="0" y="0"/>
              <a:chExt cx="21717000" cy="254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296109" y="12068210"/>
              <a:ext cx="21717000" cy="25400"/>
              <a:chOff x="0" y="0"/>
              <a:chExt cx="21717000" cy="254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1717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717000" h="25400">
                    <a:moveTo>
                      <a:pt x="0" y="0"/>
                    </a:moveTo>
                    <a:lnTo>
                      <a:pt x="21717000" y="0"/>
                    </a:lnTo>
                    <a:lnTo>
                      <a:pt x="21717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8DC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21717000" cy="73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6651709" y="2082835"/>
              <a:ext cx="4457700" cy="610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Category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668209" y="2082835"/>
              <a:ext cx="5791200" cy="610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Examples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018209" y="2082835"/>
              <a:ext cx="9791700" cy="610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Approach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51709" y="3102010"/>
              <a:ext cx="4432300" cy="477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Supervised fetal brain US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668209" y="3111535"/>
              <a:ext cx="5765800" cy="480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4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Xie et al. (2020)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018209" y="3060735"/>
              <a:ext cx="9766300" cy="494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5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CNN classifies images as normal or abnormal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1709" y="4422810"/>
              <a:ext cx="4432300" cy="477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Supervised fetal MRI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668209" y="4432335"/>
              <a:ext cx="5765800" cy="480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4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FOAC-NET (Lo et al., 2022)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8018209" y="4381535"/>
              <a:ext cx="9766300" cy="494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5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CNN detects organ anomalies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1709" y="5743610"/>
              <a:ext cx="4432300" cy="934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Unsupervised fetal heart US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668209" y="5753135"/>
              <a:ext cx="5765800" cy="454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7"/>
                </a:lnSpc>
              </a:pPr>
              <a:r>
                <a:rPr lang="en-US" sz="23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Chotzoglou et al. (2021)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8018209" y="5702335"/>
              <a:ext cx="9766300" cy="494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5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Learns normal appearance to detect HLHS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1709" y="7064410"/>
              <a:ext cx="4432300" cy="934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Autoencoder / GAN UAD</a:t>
              </a:r>
            </a:p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(brain MRI)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668209" y="7073935"/>
              <a:ext cx="5765800" cy="480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4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VAE, F-AnoGAN, GANomaly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8018209" y="7023135"/>
              <a:ext cx="9766300" cy="494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5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Reconstruct healthy anatomy, flag differences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51709" y="8385210"/>
              <a:ext cx="4432300" cy="934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Diffusion UAD</a:t>
              </a:r>
            </a:p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(brain MRI)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668209" y="8394735"/>
              <a:ext cx="5765800" cy="480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4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Wolleb et al., Behrendt et al.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8018209" y="8343935"/>
              <a:ext cx="9766300" cy="494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5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Noise and denoise to find anomalies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51709" y="9706010"/>
              <a:ext cx="4432300" cy="477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General diffusion UAD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668209" y="9715535"/>
              <a:ext cx="5765800" cy="480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4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AnoDDPM, AutoDDPM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8018209" y="9664735"/>
              <a:ext cx="9766300" cy="977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5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Gaussian/Simplex noise; conditional “mask, stitch, resample”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51709" y="11026810"/>
              <a:ext cx="4432300" cy="477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sz="2349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Baseline for this work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668209" y="11036335"/>
              <a:ext cx="5765800" cy="480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4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Mykula et al. (2024)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8043609" y="10806338"/>
              <a:ext cx="9766300" cy="1314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52"/>
                </a:lnSpc>
              </a:pPr>
              <a:r>
                <a:rPr lang="en-US" sz="2219">
                  <a:solidFill>
                    <a:srgbClr val="26374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SonoNet plane filter, head segmentation, AnoDDPM/AutoDDPM on fetal brain US (best AUPRC 79.8%, AUROC 66.6%)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977632" y="209550"/>
              <a:ext cx="12783075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Existing Systems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0193" y="535876"/>
            <a:ext cx="19257097" cy="12837224"/>
            <a:chOff x="0" y="38100"/>
            <a:chExt cx="25676129" cy="17116298"/>
          </a:xfrm>
        </p:grpSpPr>
        <p:sp>
          <p:nvSpPr>
            <p:cNvPr id="4" name="TextBox 4"/>
            <p:cNvSpPr txBox="1"/>
            <p:nvPr/>
          </p:nvSpPr>
          <p:spPr>
            <a:xfrm>
              <a:off x="798009" y="209550"/>
              <a:ext cx="8023148" cy="165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1"/>
                </a:lnSpc>
              </a:pPr>
              <a:r>
                <a:rPr lang="en-US" sz="9180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Advantages 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14260992" y="6181598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788983">
              <a:off x="19821028" y="4176782"/>
              <a:ext cx="3529818" cy="4447015"/>
            </a:xfrm>
            <a:custGeom>
              <a:avLst/>
              <a:gdLst/>
              <a:ahLst/>
              <a:cxnLst/>
              <a:rect l="l" t="t" r="r" b="b"/>
              <a:pathLst>
                <a:path w="3529818" h="4447015">
                  <a:moveTo>
                    <a:pt x="0" y="0"/>
                  </a:moveTo>
                  <a:lnTo>
                    <a:pt x="3529818" y="0"/>
                  </a:lnTo>
                  <a:lnTo>
                    <a:pt x="3529818" y="4447015"/>
                  </a:lnTo>
                  <a:lnTo>
                    <a:pt x="0" y="444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2532973"/>
              <a:ext cx="9156298" cy="8694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0203" lvl="1" indent="-300101" algn="just">
                <a:lnSpc>
                  <a:spcPts val="4753"/>
                </a:lnSpc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Trains on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healthy data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only, so no pathological labels are needed.</a:t>
              </a:r>
            </a:p>
            <a:p>
              <a:pPr marL="600203" lvl="1" indent="-300101" algn="just">
                <a:lnSpc>
                  <a:spcPts val="4753"/>
                </a:lnSpc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Can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generalise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to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unseen anomaly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types.</a:t>
              </a:r>
            </a:p>
            <a:p>
              <a:pPr marL="600203" lvl="1" indent="-300101" algn="just">
                <a:lnSpc>
                  <a:spcPts val="4753"/>
                </a:lnSpc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DDPMs offer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better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mode coverage and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sample quality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than VAEs and GANs.</a:t>
              </a:r>
            </a:p>
            <a:p>
              <a:pPr marL="600203" lvl="1" indent="-300101" algn="just">
                <a:lnSpc>
                  <a:spcPts val="4753"/>
                </a:lnSpc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Semi-automatic preprocessing (age filter, SonoNet, segmentation)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reduces data variability.</a:t>
              </a:r>
            </a:p>
            <a:p>
              <a:pPr marL="600203" lvl="1" indent="-300101" algn="just">
                <a:lnSpc>
                  <a:spcPts val="4753"/>
                </a:lnSpc>
                <a:buFont typeface="Arial"/>
                <a:buChar char="•"/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Anomaly maps localise findings and are visually interpretable.</a:t>
              </a:r>
            </a:p>
            <a:p>
              <a:pPr marL="0" lvl="0" indent="0" algn="just">
                <a:lnSpc>
                  <a:spcPts val="4753"/>
                </a:lnSpc>
              </a:pPr>
              <a:endParaRPr lang="en-US" sz="278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403" y="2618699"/>
              <a:ext cx="9436657" cy="10625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Noise paradox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: a trade-off between reconstruction quality and detection.</a:t>
              </a:r>
            </a:p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Simplex noise produces visible artefacts on US images.</a:t>
              </a:r>
            </a:p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Manual expert verification 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is still required.</a:t>
              </a:r>
            </a:p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Works on </a:t>
              </a:r>
              <a:r>
                <a:rPr lang="en-US" sz="2779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static 2D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slices only; no video or temporal information.</a:t>
              </a:r>
            </a:p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Small evaluation set (</a:t>
              </a:r>
              <a:r>
                <a:rPr lang="en-US" sz="2779" b="1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18 pathological and 12 healthy images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), so results are statistically uncertain.</a:t>
              </a:r>
            </a:p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Single-</a:t>
              </a:r>
              <a:r>
                <a:rPr lang="en-US" sz="2779" dirty="0" err="1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centre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data; </a:t>
              </a:r>
              <a:r>
                <a:rPr lang="en-US" sz="2779" dirty="0" err="1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generalisation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across scanners is untested.</a:t>
              </a:r>
            </a:p>
            <a:p>
              <a:pPr marL="600201" lvl="1" indent="-300100" algn="just">
                <a:lnSpc>
                  <a:spcPts val="3891"/>
                </a:lnSpc>
                <a:buFont typeface="Arial"/>
                <a:buChar char="•"/>
              </a:pPr>
              <a:r>
                <a:rPr lang="en-US" sz="2779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Pixel-space diffusion</a:t>
              </a:r>
              <a:r>
                <a:rPr lang="en-US" sz="2779" dirty="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is computationally </a:t>
              </a:r>
              <a:r>
                <a:rPr lang="en-US" sz="2779" b="1" dirty="0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heavy.</a:t>
              </a:r>
            </a:p>
            <a:p>
              <a:pPr marL="0" lvl="0" indent="0" algn="just">
                <a:lnSpc>
                  <a:spcPts val="3891"/>
                </a:lnSpc>
              </a:pPr>
              <a:endParaRPr lang="en-US" sz="2779" b="1" dirty="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18409" y="38100"/>
              <a:ext cx="7475538" cy="1817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57"/>
                </a:lnSpc>
                <a:spcBef>
                  <a:spcPct val="0"/>
                </a:spcBef>
              </a:pPr>
              <a:r>
                <a:rPr lang="en-US" sz="918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Limitations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-152283">
              <a:off x="3244186" y="10029439"/>
              <a:ext cx="2667927" cy="2200243"/>
            </a:xfrm>
            <a:custGeom>
              <a:avLst/>
              <a:gdLst/>
              <a:ahLst/>
              <a:cxnLst/>
              <a:rect l="l" t="t" r="r" b="b"/>
              <a:pathLst>
                <a:path w="2667927" h="2200243">
                  <a:moveTo>
                    <a:pt x="0" y="0"/>
                  </a:moveTo>
                  <a:lnTo>
                    <a:pt x="2667927" y="0"/>
                  </a:lnTo>
                  <a:lnTo>
                    <a:pt x="2667927" y="2200242"/>
                  </a:lnTo>
                  <a:lnTo>
                    <a:pt x="0" y="2200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2999"/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21957" y="1464234"/>
            <a:ext cx="25731913" cy="8229600"/>
            <a:chOff x="0" y="0"/>
            <a:chExt cx="34309217" cy="10972800"/>
          </a:xfrm>
        </p:grpSpPr>
        <p:sp>
          <p:nvSpPr>
            <p:cNvPr id="4" name="Freeform 4"/>
            <p:cNvSpPr/>
            <p:nvPr/>
          </p:nvSpPr>
          <p:spPr>
            <a:xfrm>
              <a:off x="22894081" y="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6" y="0"/>
                  </a:lnTo>
                  <a:lnTo>
                    <a:pt x="1141513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11415137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11415137" y="10972800"/>
                  </a:lnTo>
                  <a:lnTo>
                    <a:pt x="11415137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8235296" y="2696897"/>
              <a:ext cx="17838626" cy="3593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040"/>
                </a:lnSpc>
              </a:pPr>
              <a:r>
                <a:rPr lang="en-US" sz="20042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530</Words>
  <Application>Microsoft Office PowerPoint</Application>
  <PresentationFormat>Custom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Noto Serif Ethiopic Condensed</vt:lpstr>
      <vt:lpstr>Calibri</vt:lpstr>
      <vt:lpstr>Calibri (MS)</vt:lpstr>
      <vt:lpstr>Noto Serif Ethiopic Condensed Bold</vt:lpstr>
      <vt:lpstr>Arial</vt:lpstr>
      <vt:lpstr>Lilita One</vt:lpstr>
      <vt:lpstr>Calibri (MS)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Phase-1</dc:title>
  <cp:lastModifiedBy>HITESH CV</cp:lastModifiedBy>
  <cp:revision>4</cp:revision>
  <dcterms:created xsi:type="dcterms:W3CDTF">2006-08-16T00:00:00Z</dcterms:created>
  <dcterms:modified xsi:type="dcterms:W3CDTF">2026-10-06T09:31:04Z</dcterms:modified>
  <dc:identifier>DAHXKMjfHDA</dc:identifier>
</cp:coreProperties>
</file>